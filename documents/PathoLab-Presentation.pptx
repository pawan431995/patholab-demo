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79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E14B8-4499-4F1F-83F0-68F4B1821F7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52FCE-29D0-456A-B840-7E5F1CB6466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the lab you are presenting to. Spend the first minute on their work, not on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the audience which of these they recognise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that it is one application, not a set of add-ons, and that it runs on the lab's own computers.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Referred by: Self, a registered doctor (commission applies), or Other, where a name is typed and saved as a doctor.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Overdue turnaround is shown on the worklist and on the dashboard, so the lab can act before the due time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Reflex testing example: fasting glucose above a set limit adds HbA1c to the order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Digital signature: the signature code is computed from the verified results. Reports &gt; Verify Signature shows whether the results still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Analyser connection is by file import (CSV, ASTM E1394, HL7 v2 ORU), with a preview before anything is saved. A live serial or network connection is not part of this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GST is switched on per laboratory once its GSTIN and rate are entered, so existing invoices are not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describe two-factor sign-in as available: it is not part of this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Cloud sync between branches is part of the Enterprise edition.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dash means the feature is not included in that edition. Each licence is tied to one computer and can be issued for a fixed period or as perpetual.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ready for these questions. Live analyser connection: file import only in this version. Patient online portal: counter access in the desktop app; a hosted online portal needs a server and is not included. Report designer: layout options and footer text, not drag-and-drop. Two-factor sign-in for administrators: not in this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current prices and offer validity before presenting. Enterprise is priced on the number of branches and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7FD6C6"/>
                </a:solidFill>
                <a:latin typeface="Segoe UI Semibold"/>
              </a:rPr>
              <a:t>LABORATORY MANAGEMENT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058400" cy="1463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0">
                <a:solidFill>
                  <a:srgbClr val="FBFCFE"/>
                </a:solidFill>
                <a:latin typeface="Segoe UI Semibold"/>
              </a:rPr>
              <a:t>PathoLab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9875520" cy="12801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C9D8E8"/>
                </a:solidFill>
                <a:latin typeface="Segoe UI"/>
              </a:rPr>
              <a:t>From sample registration to signed report: one application for diagnostic laboratories, built to keep working when the internet does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9D8E8"/>
                </a:solidFill>
                <a:latin typeface="Segoe UI"/>
              </a:rPr>
              <a:t>Presentation for [Client name]  ·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>
                <a:solidFill>
                  <a:srgbClr val="0F2A4A"/>
                </a:solidFill>
                <a:latin typeface="Segoe UI Semibold"/>
              </a:rPr>
              <a:t>The daily problems in a diagnostic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5B6B7D"/>
                </a:solidFill>
                <a:latin typeface="Segoe UI"/>
              </a:rPr>
              <a:t>Most labs run on several disconnected tools, and the cost shows up at the counter and in the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PathoLab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5840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240280"/>
            <a:ext cx="2697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Work is split across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88036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Registers on paper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Billing in a separate program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QC results kept in notebooks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Reports typed by hand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011680"/>
            <a:ext cx="342900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54296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82896" y="2240280"/>
            <a:ext cx="2697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Turnaround slips unnoticed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926080"/>
            <a:ext cx="288036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No alert before a result is due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Samples lost between collection and bench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Critical values phoned in 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011680"/>
            <a:ext cx="342900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02752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31352" y="2240280"/>
            <a:ext cx="2697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Trust is hard to 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926080"/>
            <a:ext cx="288036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Edits to a result after sign-off go unnoticed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No record of who changed what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Shared logins on lab PCs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>
                <a:solidFill>
                  <a:srgbClr val="0F2A4A"/>
                </a:solidFill>
                <a:latin typeface="Segoe UI Semibold"/>
              </a:rPr>
              <a:t>What PathoLab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5B6B7D"/>
                </a:solidFill>
                <a:latin typeface="Segoe UI"/>
              </a:rPr>
              <a:t>One desktop application that covers the lab from the first registration to the final, signed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PathoLab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383280" cy="35661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274320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2A4A"/>
                </a:solidFill>
                <a:latin typeface="Segoe UI Semibold"/>
              </a:rPr>
              <a:t>Runs on your computers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74720"/>
            <a:ext cx="2788920" cy="20116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1B2B3C"/>
                </a:solidFill>
                <a:latin typeface="Segoe UI"/>
              </a:rPr>
              <a:t>Windows desktop application with a local database. No internet is needed to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94560"/>
            <a:ext cx="3383280" cy="35661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59" y="2514600"/>
            <a:ext cx="274320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2A4A"/>
                </a:solidFill>
                <a:latin typeface="Segoe UI Semibold"/>
              </a:rPr>
              <a:t>Covers the whole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3474720"/>
            <a:ext cx="2788920" cy="20116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1B2B3C"/>
                </a:solidFill>
                <a:latin typeface="Segoe UI"/>
              </a:rPr>
              <a:t>Patients, orders, samples, results, reports, billing, QC, inventory and MIS in one place.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94560"/>
            <a:ext cx="3383280" cy="35661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2514600"/>
            <a:ext cx="274320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0F2A4A"/>
                </a:solidFill>
                <a:latin typeface="Segoe UI Semibold"/>
              </a:rPr>
              <a:t>Built for Indian laboratories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474720"/>
            <a:ext cx="2788920" cy="20116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1B2B3C"/>
                </a:solidFill>
                <a:latin typeface="Segoe UI"/>
              </a:rPr>
              <a:t>GST invoices, rupee pricing, referring-doctor commissions and WhatsApp updates for patients.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>
                <a:solidFill>
                  <a:srgbClr val="0F2A4A"/>
                </a:solidFill>
                <a:latin typeface="Segoe UI Semibold"/>
              </a:rPr>
              <a:t>Patients, orders and referrals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5B6B7D"/>
                </a:solidFill>
                <a:latin typeface="Segoe UI"/>
              </a:rPr>
              <a:t>Register once, order many tests, and record who referred the patient.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PathoLab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5840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240280"/>
            <a:ext cx="44805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Patients and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66344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Search by name, patient ID or phone number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Order single tests, panels and health packages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Price lists per branch, with discounts and part payment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Clinic visit or home collection, with slot, address and phlebotomist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Branches and collection centres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2240280"/>
            <a:ext cx="44805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Referrals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26080"/>
            <a:ext cx="466344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Referred by: Self, a registered doctor, or Other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Doctor linked to the order from the start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Commission rules per doctor, with a default rate or per-test rates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WhatsApp messages only to patients who have agreed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>
                <a:solidFill>
                  <a:srgbClr val="0F2A4A"/>
                </a:solidFill>
                <a:latin typeface="Segoe UI Semibold"/>
              </a:rPr>
              <a:t>Sample tracking, from collection to disposal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5B6B7D"/>
                </a:solidFill>
                <a:latin typeface="Segoe UI"/>
              </a:rPr>
              <a:t>Every movement is recorded, so a missing sample is found, not guessed.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PathoLab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5840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240280"/>
            <a:ext cx="44805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Sample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66344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Collect, receive, process, store and move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Reject with a reason, or request recollection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Dispose with a record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Full history for every sample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2240280"/>
            <a:ext cx="44805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Labels and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26080"/>
            <a:ext cx="466344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Code 128 barcode labels, scanned at receipt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Label printing from the sample screen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Overdue turnaround alerts on the worklist and dashboard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Critical values flagged for immediate notification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>
                <a:solidFill>
                  <a:srgbClr val="0F2A4A"/>
                </a:solidFill>
                <a:latin typeface="Segoe UI Semibold"/>
              </a:rPr>
              <a:t>Result entry with built-in clinical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5B6B7D"/>
                </a:solidFill>
                <a:latin typeface="Segoe UI"/>
              </a:rPr>
              <a:t>The system flags what needs attention, so the technician and the pathologist do not have to look for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PathoLab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5840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240280"/>
            <a:ext cx="2697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88036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Numeric, qualitative, semi-quantitative, text and narrative results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Calculated analytes, such as LDL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Culture and sensitivity with S / I / 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011680"/>
            <a:ext cx="342900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54296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82896" y="2240280"/>
            <a:ext cx="2697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926080"/>
            <a:ext cx="288036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Reference ranges by gender and age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Automatic L, H, LL and HH flags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Critical-value alerts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Previous-result comparison with % change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011680"/>
            <a:ext cx="342900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02752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31352" y="2240280"/>
            <a:ext cx="2697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926080"/>
            <a:ext cx="288036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Delta check: a large change needs a comment before verifying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Reflex tests added when a rule is met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Patient result trend 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>
                <a:solidFill>
                  <a:srgbClr val="0F2A4A"/>
                </a:solidFill>
                <a:latin typeface="Segoe UI Semibold"/>
              </a:rPr>
              <a:t>Verified reports that show when they were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5B6B7D"/>
                </a:solidFill>
                <a:latin typeface="Segoe UI"/>
              </a:rPr>
              <a:t>Final reports are signed from their results. Any later edit is detected.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PathoLab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5840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240280"/>
            <a:ext cx="44805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66344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Pathologist verification before release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Provisional and final reports as PDF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Report layout options and footer text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Signed final reports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Patients can collect final reports at the counter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2240280"/>
            <a:ext cx="44805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Sharing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26080"/>
            <a:ext cx="466344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Report-ready and payment-reminder WhatsApp messages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The report PDF can be sent, when the lab allows it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Only to patients who have agreed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Email delivery of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>
                <a:solidFill>
                  <a:srgbClr val="0F2A4A"/>
                </a:solidFill>
                <a:latin typeface="Segoe UI Semibold"/>
              </a:rPr>
              <a:t>Quality control, inventory and analysers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5B6B7D"/>
                </a:solidFill>
                <a:latin typeface="Segoe UI"/>
              </a:rPr>
              <a:t>Included in the Professional edition.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PathoLab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5840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240280"/>
            <a:ext cx="2697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Quality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88036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QC records for each test and material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Levey-Jennings charts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Westgard rules applied to each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011680"/>
            <a:ext cx="342900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54296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82896" y="2240280"/>
            <a:ext cx="2697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926080"/>
            <a:ext cx="288036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Stock by lot with expiry dates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Stock is issued earliest-expiry first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Reorder levels and movement history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011680"/>
            <a:ext cx="342900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02752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31352" y="2240280"/>
            <a:ext cx="2697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Equipment and analysers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926080"/>
            <a:ext cx="288036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Equipment and service log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Calibration due dates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Analyser import from file, with preview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>
                <a:solidFill>
                  <a:srgbClr val="0F2A4A"/>
                </a:solidFill>
                <a:latin typeface="Segoe UI Semibold"/>
              </a:rPr>
              <a:t>Billing, GST and doctor commissions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5B6B7D"/>
                </a:solidFill>
                <a:latin typeface="Segoe UI"/>
              </a:rPr>
              <a:t>Money is recorded in a ledger, so receipts and daybooks always match the orders.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PathoLab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5840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240280"/>
            <a:ext cx="44805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Billing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66344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Invoices, part payments and receipts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Payment ledger behind every balance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Discounts within limits set by the lab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GST invoices: GSTIN, CGST and SGST, SAC code (optional)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2240280"/>
            <a:ext cx="44805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26080"/>
            <a:ext cx="466344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Doctor commission statements and payouts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Expenses and finance reports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MIS reports on volume, turnaround and revenue (Professional)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>
                <a:solidFill>
                  <a:srgbClr val="0F2A4A"/>
                </a:solidFill>
                <a:latin typeface="Segoe UI Semibold"/>
              </a:rPr>
              <a:t>Security and a record you can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5B6B7D"/>
                </a:solidFill>
                <a:latin typeface="Segoe UI"/>
              </a:rPr>
              <a:t>Each person sees only what their role allows, and every change is recorded.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PathoLab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5840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240280"/>
            <a:ext cx="2697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88036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Roles: administrator, pathologist, technician, receptionist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Custom roles with chosen permissions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Account lock-out after repeated failures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Passwords expire on a set schedule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011680"/>
            <a:ext cx="342900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54296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82896" y="2240280"/>
            <a:ext cx="2697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926080"/>
            <a:ext cx="288036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Every change records who made it and when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Entries are chained, so an edited entry is detected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Audit trail can be verified and exported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011680"/>
            <a:ext cx="342900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02752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31352" y="2240280"/>
            <a:ext cx="2697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Data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926080"/>
            <a:ext cx="288036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Automatic scheduled backups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Manual backup and restore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Database integrity check from the Tools menu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698480" cy="60997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0F2A4A"/>
                </a:solidFill>
                <a:latin typeface="Segoe UI Semibold"/>
              </a:rPr>
              <a:t>Works offline, and connects branches when you choose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5B6B7D"/>
                </a:solidFill>
                <a:latin typeface="Segoe UI"/>
              </a:rPr>
              <a:t>The laboratory keeps working during power or internet outages.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PathoLab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5840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240280"/>
            <a:ext cx="44805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Offline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66344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Local database on each computer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No internet needed for daily work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Installs with one setup file on Windows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Patient data stays in one shared folder on the PC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02336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2286000"/>
            <a:ext cx="73152" cy="457200"/>
          </a:xfrm>
          <a:prstGeom prst="rect">
            <a:avLst/>
          </a:prstGeom>
          <a:solidFill>
            <a:srgbClr val="08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2240280"/>
            <a:ext cx="44805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0F2A4A"/>
                </a:solidFill>
                <a:latin typeface="Segoe UI Semibold"/>
              </a:rPr>
              <a:t>Multi-branch (Enterprise)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26080"/>
            <a:ext cx="466344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Cloud database and synchronisation between branches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Shared master data: tests, prices, doctors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1B2B3C"/>
                </a:solidFill>
                <a:latin typeface="Segoe UI"/>
              </a:rPr>
              <a:t>•  Each branch keeps working if the link is down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>
                <a:solidFill>
                  <a:srgbClr val="0F2A4A"/>
                </a:solidFill>
                <a:latin typeface="Segoe UI Semibold"/>
              </a:rPr>
              <a:t>Licence editions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5B6B7D"/>
                </a:solidFill>
                <a:latin typeface="Segoe UI"/>
              </a:rPr>
              <a:t>Choose the edition that matches the laboratory. Every edition includes the core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PathoLab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10698480" cy="422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1828800"/>
                <a:gridCol w="1828800"/>
                <a:gridCol w="1828800"/>
              </a:tblGrid>
              <a:tr h="3505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BFCFE"/>
                          </a:solidFill>
                          <a:latin typeface="Segoe UI Semibold"/>
                        </a:rPr>
                        <a:t>Basic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BFCFE"/>
                          </a:solidFill>
                          <a:latin typeface="Segoe UI Semibold"/>
                        </a:rPr>
                        <a:t>Professional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BFCFE"/>
                          </a:solidFill>
                          <a:latin typeface="Segoe UI Semibold"/>
                        </a:rPr>
                        <a:t>Enterprise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Active users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Up to 5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Unlimited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Unlimited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Patients, orders, samples and results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Reports, signatures and billing with GST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Doctor commissions, expenses and finance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Backup, audit trail and access control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Quality control and inventory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Analyser import (file)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WhatsApp messages to patients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MIS reports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Cloud database and sync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Custom report designs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2B3C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>
                <a:solidFill>
                  <a:srgbClr val="0F2A4A"/>
                </a:solidFill>
                <a:latin typeface="Segoe UI Semibold"/>
              </a:rPr>
              <a:t>Why laboratories choose PathoLab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5B6B7D"/>
                </a:solidFill>
                <a:latin typeface="Segoe UI"/>
              </a:rPr>
              <a:t>Features that other tools usually sell as add-ons are part of the core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PathoLab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86B5F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466344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0F2A4A"/>
                </a:solidFill>
                <a:latin typeface="Segoe UI Semibold"/>
              </a:rPr>
              <a:t>One application for the whole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23160"/>
            <a:ext cx="466344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B2B3C"/>
                </a:solidFill>
                <a:latin typeface="Segoe UI"/>
              </a:rPr>
              <a:t>From registration to billing and MIS, without switching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011680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86B5F"/>
                </a:solidFill>
                <a:latin typeface="Segoe UI Semi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011680"/>
            <a:ext cx="466344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0F2A4A"/>
                </a:solidFill>
                <a:latin typeface="Segoe UI Semibold"/>
              </a:rPr>
              <a:t>Works offline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423160"/>
            <a:ext cx="466344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B2B3C"/>
                </a:solidFill>
                <a:latin typeface="Segoe UI"/>
              </a:rPr>
              <a:t>Daily work does not depend on the internet.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86B5F"/>
                </a:solidFill>
                <a:latin typeface="Segoe UI Semi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337560"/>
            <a:ext cx="466344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0F2A4A"/>
                </a:solidFill>
                <a:latin typeface="Segoe UI Semibold"/>
              </a:rPr>
              <a:t>Quality control built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49040"/>
            <a:ext cx="466344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B2B3C"/>
                </a:solidFill>
                <a:latin typeface="Segoe UI"/>
              </a:rPr>
              <a:t>Westgard rules, Levey-Jennings charts and analyser file import.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337560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86B5F"/>
                </a:solidFill>
                <a:latin typeface="Segoe UI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337560"/>
            <a:ext cx="466344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0F2A4A"/>
                </a:solidFill>
                <a:latin typeface="Segoe UI Semibold"/>
              </a:rPr>
              <a:t>Reports that show tampering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749040"/>
            <a:ext cx="466344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B2B3C"/>
                </a:solidFill>
                <a:latin typeface="Segoe UI"/>
              </a:rPr>
              <a:t>Signed final reports and an audit trail with a tamper-evident chain.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86B5F"/>
                </a:solidFill>
                <a:latin typeface="Segoe UI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663440"/>
            <a:ext cx="466344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0F2A4A"/>
                </a:solidFill>
                <a:latin typeface="Segoe UI Semibold"/>
              </a:rPr>
              <a:t>Billing that fits 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74920"/>
            <a:ext cx="466344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B2B3C"/>
                </a:solidFill>
                <a:latin typeface="Segoe UI"/>
              </a:rPr>
              <a:t>GST invoices, rupee pricing and referring-doctor commissions.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663440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86B5F"/>
                </a:solidFill>
                <a:latin typeface="Segoe UI Semibold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663440"/>
            <a:ext cx="466344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0F2A4A"/>
                </a:solidFill>
                <a:latin typeface="Segoe UI Semibold"/>
              </a:rPr>
              <a:t>Licence you can plan for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5074920"/>
            <a:ext cx="466344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B2B3C"/>
                </a:solidFill>
                <a:latin typeface="Segoe UI"/>
              </a:rPr>
              <a:t>Annual or perpetual, tied to one computer, with clear user limits.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>
                <a:solidFill>
                  <a:srgbClr val="0F2A4A"/>
                </a:solidFill>
                <a:latin typeface="Segoe UI Semibold"/>
              </a:rPr>
              <a:t>Indicative pricing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5B6B7D"/>
                </a:solidFill>
                <a:latin typeface="Segoe UI"/>
              </a:rPr>
              <a:t>Prices are indicative and may change. Final pricing is confirmed in writing.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PathoLab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B6B7D"/>
                </a:solidFill>
                <a:latin typeface="Segoe U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1069848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40480"/>
                <a:gridCol w="42976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BFCFE"/>
                          </a:solidFill>
                          <a:latin typeface="Segoe UI Semibold"/>
                        </a:rPr>
                        <a:t>Edition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BFCFE"/>
                          </a:solidFill>
                          <a:latin typeface="Segoe UI Semibold"/>
                        </a:rPr>
                        <a:t>Price per year (indicative)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BFCFE"/>
                          </a:solidFill>
                          <a:latin typeface="Segoe UI Semibold"/>
                        </a:rPr>
                        <a:t>For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B2B3C"/>
                          </a:solidFill>
                          <a:latin typeface="Segoe UI"/>
                        </a:rPr>
                        <a:t>Basic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2B3C"/>
                          </a:solidFill>
                          <a:latin typeface="Segoe UI"/>
                        </a:rPr>
                        <a:t>₹2,000  (list ₹5,000)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2B3C"/>
                          </a:solidFill>
                          <a:latin typeface="Segoe UI"/>
                        </a:rPr>
                        <a:t>One laboratory, up to 5 users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B2B3C"/>
                          </a:solidFill>
                          <a:latin typeface="Segoe UI"/>
                        </a:rPr>
                        <a:t>Professional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2B3C"/>
                          </a:solidFill>
                          <a:latin typeface="Segoe UI"/>
                        </a:rPr>
                        <a:t>₹6,000  (list ₹15,000)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2B3C"/>
                          </a:solidFill>
                          <a:latin typeface="Segoe UI"/>
                        </a:rPr>
                        <a:t>Laboratories with several branches and referrers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B2B3C"/>
                          </a:solidFill>
                          <a:latin typeface="Segoe UI"/>
                        </a:rPr>
                        <a:t>Enterprise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2B3C"/>
                          </a:solidFill>
                          <a:latin typeface="Segoe UI"/>
                        </a:rPr>
                        <a:t>On request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B2B3C"/>
                          </a:solidFill>
                          <a:latin typeface="Segoe UI"/>
                        </a:rPr>
                        <a:t>Hospital networks and large chains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480560"/>
            <a:ext cx="1069848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2A4A"/>
                </a:solidFill>
                <a:latin typeface="Segoe UI Semibold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06984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700">
                <a:solidFill>
                  <a:srgbClr val="1B2B3C"/>
                </a:solidFill>
                <a:latin typeface="Segoe UI"/>
              </a:rPr>
              <a:t>•  Confirm your edition and number of users, and agree on the licence period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700">
                <a:solidFill>
                  <a:srgbClr val="1B2B3C"/>
                </a:solidFill>
                <a:latin typeface="Segoe UI"/>
              </a:rPr>
              <a:t>•  Install on one computer and review the workflow with your team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700">
                <a:solidFill>
                  <a:srgbClr val="1B2B3C"/>
                </a:solidFill>
                <a:latin typeface="Segoe UI"/>
              </a:rPr>
              <a:t>•  Contact: [Name], [Phone], [Email]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1664</Words>
  <Application>Microsoft Macintosh PowerPoint</Application>
  <PresentationFormat>Custom</PresentationFormat>
  <Paragraphs>258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PawanSoni</cp:lastModifiedBy>
  <cp:revision>2</cp:revision>
  <dcterms:created xsi:type="dcterms:W3CDTF">2013-01-27T09:14:16Z</dcterms:created>
  <dcterms:modified xsi:type="dcterms:W3CDTF">2026-10-15T09:28:03Z</dcterms:modified>
  <cp:category/>
</cp:coreProperties>
</file>